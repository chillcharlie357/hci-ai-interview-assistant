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281160" y="-548640"/>
            <a:ext cx="6217920" cy="9326880"/>
          </a:xfrm>
          <a:prstGeom prst="parallelogram">
            <a:avLst/>
          </a:prstGeom>
          <a:solidFill>
            <a:srgbClr val="E4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" y="685800"/>
            <a:ext cx="256032" cy="6812280"/>
          </a:xfrm>
          <a:prstGeom prst="rect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0976" y="685800"/>
            <a:ext cx="228600" cy="2423160"/>
          </a:xfrm>
          <a:prstGeom prst="rect">
            <a:avLst/>
          </a:prstGeom>
          <a:solidFill>
            <a:srgbClr val="E5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00784" y="1627632"/>
            <a:ext cx="77724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4400" b="0">
                <a:solidFill>
                  <a:srgbClr val="17303A"/>
                </a:solidFill>
                <a:latin typeface="Arial"/>
              </a:rPr>
              <a:t>HCI AI Interview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72" y="2404872"/>
            <a:ext cx="804672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0">
                <a:solidFill>
                  <a:srgbClr val="60727B"/>
                </a:solidFill>
                <a:latin typeface="Arial"/>
              </a:rPr>
              <a:t>AI 辅助面试：结构化提问、过程记录、可复核纪要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3611880"/>
            <a:ext cx="8686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0">
                <a:solidFill>
                  <a:srgbClr val="2F8F8C"/>
                </a:solidFill>
                <a:latin typeface="Arial"/>
              </a:rPr>
              <a:t>招聘端配置 · 候选人视频面试 · LLM 增强 · 报告权限控制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19072" y="5650992"/>
            <a:ext cx="1901952" cy="612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9072" y="5815584"/>
            <a:ext cx="190195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0">
                <a:solidFill>
                  <a:srgbClr val="17303A"/>
                </a:solidFill>
                <a:latin typeface="Arial"/>
              </a:rPr>
              <a:t>问题生成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5650992"/>
            <a:ext cx="1901952" cy="612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5815584"/>
            <a:ext cx="190195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0">
                <a:solidFill>
                  <a:srgbClr val="17303A"/>
                </a:solidFill>
                <a:latin typeface="Arial"/>
              </a:rPr>
              <a:t>数字人提问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5650992"/>
            <a:ext cx="1901952" cy="612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5815584"/>
            <a:ext cx="190195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0">
                <a:solidFill>
                  <a:srgbClr val="17303A"/>
                </a:solidFill>
                <a:latin typeface="Arial"/>
              </a:rPr>
              <a:t>回答记录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62872" y="5650992"/>
            <a:ext cx="1901952" cy="612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5815584"/>
            <a:ext cx="1901952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0">
                <a:solidFill>
                  <a:srgbClr val="17303A"/>
                </a:solidFill>
                <a:latin typeface="Arial"/>
              </a:rPr>
              <a:t>证据化报告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715060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60727B"/>
                </a:solidFill>
                <a:latin typeface="Arial"/>
              </a:rPr>
              <a:t>项目介绍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46304"/>
          </a:xfrm>
          <a:prstGeom prst="rect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286000" cy="91440"/>
          </a:xfrm>
          <a:prstGeom prst="rect">
            <a:avLst/>
          </a:prstGeom>
          <a:solidFill>
            <a:srgbClr val="E5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2F8F8C"/>
                </a:solidFill>
                <a:latin typeface="Arial"/>
              </a:rPr>
              <a:t>01 /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6400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800" b="0">
                <a:solidFill>
                  <a:srgbClr val="17303A"/>
                </a:solidFill>
                <a:latin typeface="Arial"/>
              </a:rPr>
              <a:t>项目要解决的问题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8595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技术面试需要稳定提问、完整记录，以及能回到证据的分析报告。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481560" y="566928"/>
            <a:ext cx="1298448" cy="201168"/>
          </a:xfrm>
          <a:prstGeom prst="roundRect">
            <a:avLst/>
          </a:prstGeom>
          <a:solidFill>
            <a:srgbClr val="DDECEA"/>
          </a:solidFill>
          <a:ln w="15240">
            <a:solidFill>
              <a:srgbClr val="DD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514600"/>
            <a:ext cx="3813048" cy="22128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514600"/>
            <a:ext cx="3813048" cy="73152"/>
          </a:xfrm>
          <a:prstGeom prst="rect">
            <a:avLst/>
          </a:prstGeom>
          <a:solidFill>
            <a:srgbClr val="E5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07208"/>
            <a:ext cx="331012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900" b="0">
                <a:solidFill>
                  <a:srgbClr val="17303A"/>
                </a:solidFill>
                <a:latin typeface="Arial"/>
              </a:rPr>
              <a:t>面试过程难复盘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19272"/>
            <a:ext cx="3310128" cy="1298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人工纪要容易丢失问题上下文、追问意图和候选人原话。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0952" y="2514600"/>
            <a:ext cx="3813048" cy="22128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30952" y="2514600"/>
            <a:ext cx="3813048" cy="73152"/>
          </a:xfrm>
          <a:prstGeom prst="rect">
            <a:avLst/>
          </a:prstGeom>
          <a:solidFill>
            <a:srgbClr val="C99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6984" y="2807208"/>
            <a:ext cx="331012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900" b="0">
                <a:solidFill>
                  <a:srgbClr val="17303A"/>
                </a:solidFill>
                <a:latin typeface="Arial"/>
              </a:rPr>
              <a:t>通用纪要不懂面试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4" y="3319272"/>
            <a:ext cx="3310128" cy="1298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普通会议总结缺少岗位、简历、题目维度和回答证据。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2514600"/>
            <a:ext cx="3813048" cy="22128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29800" y="2514600"/>
            <a:ext cx="3813048" cy="73152"/>
          </a:xfrm>
          <a:prstGeom prst="rect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85832" y="2807208"/>
            <a:ext cx="331012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900" b="0">
                <a:solidFill>
                  <a:srgbClr val="17303A"/>
                </a:solidFill>
                <a:latin typeface="Arial"/>
              </a:rPr>
              <a:t>自动评分风险高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5832" y="3319272"/>
            <a:ext cx="3310128" cy="1298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黑盒分数难解释，非语言信号不应直接决定评价。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5797296"/>
            <a:ext cx="10671048" cy="987552"/>
          </a:xfrm>
          <a:prstGeom prst="roundRect">
            <a:avLst/>
          </a:prstGeom>
          <a:solidFill>
            <a:srgbClr val="EEF5F3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95728" y="6144768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0">
                <a:solidFill>
                  <a:srgbClr val="17303A"/>
                </a:solidFill>
                <a:latin typeface="Arial"/>
              </a:rPr>
              <a:t>项目切入点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6172200"/>
            <a:ext cx="6949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2F8F8C"/>
                </a:solidFill>
                <a:latin typeface="Arial"/>
              </a:rPr>
              <a:t>让 AI 辅助提问、记录与整理，而不是替代面试官做最终判断。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46304"/>
          </a:xfrm>
          <a:prstGeom prst="rect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286000" cy="91440"/>
          </a:xfrm>
          <a:prstGeom prst="rect">
            <a:avLst/>
          </a:prstGeom>
          <a:solidFill>
            <a:srgbClr val="E5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2F8F8C"/>
                </a:solidFill>
                <a:latin typeface="Arial"/>
              </a:rPr>
              <a:t>02 / 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6400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800" b="0">
                <a:solidFill>
                  <a:srgbClr val="17303A"/>
                </a:solidFill>
                <a:latin typeface="Arial"/>
              </a:rPr>
              <a:t>相关工作与空白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8595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现有论文、竞品和开源项目提供了组件，但缺少面向技术面试的证据链。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481560" y="566928"/>
            <a:ext cx="1298448" cy="201168"/>
          </a:xfrm>
          <a:prstGeom prst="roundRect">
            <a:avLst/>
          </a:prstGeom>
          <a:solidFill>
            <a:srgbClr val="DDECEA"/>
          </a:solidFill>
          <a:ln w="15240">
            <a:solidFill>
              <a:srgbClr val="DD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523744"/>
            <a:ext cx="3813048" cy="3273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834640"/>
            <a:ext cx="411480" cy="411480"/>
          </a:xfrm>
          <a:prstGeom prst="ellipse">
            <a:avLst/>
          </a:prstGeom>
          <a:solidFill>
            <a:srgbClr val="E5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9928" y="2871216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900" b="0">
                <a:solidFill>
                  <a:srgbClr val="17303A"/>
                </a:solidFill>
                <a:latin typeface="Arial"/>
              </a:rPr>
              <a:t>研究论文</a:t>
            </a:r>
          </a:p>
        </p:txBody>
      </p:sp>
      <p:sp>
        <p:nvSpPr>
          <p:cNvPr id="11" name="Oval 10"/>
          <p:cNvSpPr/>
          <p:nvPr/>
        </p:nvSpPr>
        <p:spPr>
          <a:xfrm>
            <a:off x="1252728" y="3840480"/>
            <a:ext cx="109728" cy="109728"/>
          </a:xfrm>
          <a:prstGeom prst="ellipse">
            <a:avLst/>
          </a:prstGeom>
          <a:solidFill>
            <a:srgbClr val="E5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2768" y="3767328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多模态信号有价值</a:t>
            </a:r>
          </a:p>
        </p:txBody>
      </p:sp>
      <p:sp>
        <p:nvSpPr>
          <p:cNvPr id="13" name="Oval 12"/>
          <p:cNvSpPr/>
          <p:nvPr/>
        </p:nvSpPr>
        <p:spPr>
          <a:xfrm>
            <a:off x="1252728" y="4462272"/>
            <a:ext cx="109728" cy="109728"/>
          </a:xfrm>
          <a:prstGeom prst="ellipse">
            <a:avLst/>
          </a:prstGeom>
          <a:solidFill>
            <a:srgbClr val="E5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72768" y="4389120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解释性与公平性挑战大</a:t>
            </a:r>
          </a:p>
        </p:txBody>
      </p:sp>
      <p:sp>
        <p:nvSpPr>
          <p:cNvPr id="15" name="Oval 14"/>
          <p:cNvSpPr/>
          <p:nvPr/>
        </p:nvSpPr>
        <p:spPr>
          <a:xfrm>
            <a:off x="1252728" y="5084064"/>
            <a:ext cx="109728" cy="109728"/>
          </a:xfrm>
          <a:prstGeom prst="ellipse">
            <a:avLst/>
          </a:prstGeom>
          <a:solidFill>
            <a:srgbClr val="E5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2768" y="5010912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不宜直接做自动评价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0096" y="2523744"/>
            <a:ext cx="3813048" cy="3273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14416" y="2834640"/>
            <a:ext cx="411480" cy="411480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2871216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900" b="0">
                <a:solidFill>
                  <a:srgbClr val="17303A"/>
                </a:solidFill>
                <a:latin typeface="Arial"/>
              </a:rPr>
              <a:t>商业产品</a:t>
            </a:r>
          </a:p>
        </p:txBody>
      </p:sp>
      <p:sp>
        <p:nvSpPr>
          <p:cNvPr id="20" name="Oval 19"/>
          <p:cNvSpPr/>
          <p:nvPr/>
        </p:nvSpPr>
        <p:spPr>
          <a:xfrm>
            <a:off x="5751576" y="3840480"/>
            <a:ext cx="109728" cy="109728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3767328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覆盖视频面试和招聘流程</a:t>
            </a:r>
          </a:p>
        </p:txBody>
      </p:sp>
      <p:sp>
        <p:nvSpPr>
          <p:cNvPr id="22" name="Oval 21"/>
          <p:cNvSpPr/>
          <p:nvPr/>
        </p:nvSpPr>
        <p:spPr>
          <a:xfrm>
            <a:off x="5751576" y="4462272"/>
            <a:ext cx="109728" cy="109728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4389120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强调效率与筛选</a:t>
            </a:r>
          </a:p>
        </p:txBody>
      </p:sp>
      <p:sp>
        <p:nvSpPr>
          <p:cNvPr id="24" name="Oval 23"/>
          <p:cNvSpPr/>
          <p:nvPr/>
        </p:nvSpPr>
        <p:spPr>
          <a:xfrm>
            <a:off x="5751576" y="5084064"/>
            <a:ext cx="109728" cy="109728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71616" y="5010912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证据链透明度不足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38944" y="2523744"/>
            <a:ext cx="3813048" cy="3273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13264" y="2834640"/>
            <a:ext cx="411480" cy="411480"/>
          </a:xfrm>
          <a:prstGeom prst="ellipse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07624" y="2871216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900" b="0">
                <a:solidFill>
                  <a:srgbClr val="17303A"/>
                </a:solidFill>
                <a:latin typeface="Arial"/>
              </a:rPr>
              <a:t>开源项目</a:t>
            </a:r>
          </a:p>
        </p:txBody>
      </p:sp>
      <p:sp>
        <p:nvSpPr>
          <p:cNvPr id="29" name="Oval 28"/>
          <p:cNvSpPr/>
          <p:nvPr/>
        </p:nvSpPr>
        <p:spPr>
          <a:xfrm>
            <a:off x="10250424" y="3840480"/>
            <a:ext cx="109728" cy="109728"/>
          </a:xfrm>
          <a:prstGeom prst="ellipse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70464" y="3767328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可复用会议和语音组件</a:t>
            </a:r>
          </a:p>
        </p:txBody>
      </p:sp>
      <p:sp>
        <p:nvSpPr>
          <p:cNvPr id="31" name="Oval 30"/>
          <p:cNvSpPr/>
          <p:nvPr/>
        </p:nvSpPr>
        <p:spPr>
          <a:xfrm>
            <a:off x="10250424" y="4462272"/>
            <a:ext cx="109728" cy="109728"/>
          </a:xfrm>
          <a:prstGeom prst="ellipse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70464" y="4389120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可参考问题生成能力</a:t>
            </a:r>
          </a:p>
        </p:txBody>
      </p:sp>
      <p:sp>
        <p:nvSpPr>
          <p:cNvPr id="33" name="Oval 32"/>
          <p:cNvSpPr/>
          <p:nvPr/>
        </p:nvSpPr>
        <p:spPr>
          <a:xfrm>
            <a:off x="10250424" y="5084064"/>
            <a:ext cx="109728" cy="109728"/>
          </a:xfrm>
          <a:prstGeom prst="ellipse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0464" y="5010912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业务结构需要重新组织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6894576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0">
                <a:solidFill>
                  <a:srgbClr val="17303A"/>
                </a:solidFill>
                <a:latin typeface="Arial"/>
              </a:rPr>
              <a:t>本项目差异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0048" y="6922008"/>
            <a:ext cx="6217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2F8F8C"/>
                </a:solidFill>
                <a:latin typeface="Arial"/>
              </a:rPr>
              <a:t>围绕“面试结构”组织问题、回答、事件、权限和报告。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46304"/>
          </a:xfrm>
          <a:prstGeom prst="rect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286000" cy="91440"/>
          </a:xfrm>
          <a:prstGeom prst="rect">
            <a:avLst/>
          </a:prstGeom>
          <a:solidFill>
            <a:srgbClr val="E5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2F8F8C"/>
                </a:solidFill>
                <a:latin typeface="Arial"/>
              </a:rPr>
              <a:t>03 /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6400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800" b="0">
                <a:solidFill>
                  <a:srgbClr val="17303A"/>
                </a:solidFill>
                <a:latin typeface="Arial"/>
              </a:rPr>
              <a:t>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8595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拆成招聘端与面试端，并用后端会话串起提问、回答和纪要。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481560" y="566928"/>
            <a:ext cx="1298448" cy="201168"/>
          </a:xfrm>
          <a:prstGeom prst="roundRect">
            <a:avLst/>
          </a:prstGeom>
          <a:solidFill>
            <a:srgbClr val="DDECEA"/>
          </a:solidFill>
          <a:ln w="15240">
            <a:solidFill>
              <a:srgbClr val="DD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560320"/>
            <a:ext cx="27432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52928"/>
            <a:ext cx="7315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4200" b="0">
                <a:solidFill>
                  <a:srgbClr val="2F8F8C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3075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900" b="0">
                <a:solidFill>
                  <a:srgbClr val="17303A"/>
                </a:solidFill>
                <a:latin typeface="Arial"/>
              </a:rPr>
              <a:t>招聘端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87952"/>
            <a:ext cx="219456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0727B"/>
                </a:solidFill>
                <a:latin typeface="Arial"/>
              </a:rPr>
              <a:t>上传简历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0727B"/>
                </a:solidFill>
                <a:latin typeface="Arial"/>
              </a:rPr>
              <a:t>补齐岗位要求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0727B"/>
                </a:solidFill>
                <a:latin typeface="Arial"/>
              </a:rPr>
              <a:t>配置报告权限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3657600"/>
            <a:ext cx="310896" cy="0"/>
          </a:xfrm>
          <a:prstGeom prst="line">
            <a:avLst/>
          </a:prstGeom>
          <a:ln w="27940">
            <a:solidFill>
              <a:srgbClr val="2F8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97096" y="2560320"/>
            <a:ext cx="27432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852928"/>
            <a:ext cx="7315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4200" b="0">
                <a:solidFill>
                  <a:srgbClr val="2F8F8C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73075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900" b="0">
                <a:solidFill>
                  <a:srgbClr val="17303A"/>
                </a:solidFill>
                <a:latin typeface="Arial"/>
              </a:rPr>
              <a:t>问题生成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4187952"/>
            <a:ext cx="219456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0727B"/>
                </a:solidFill>
                <a:latin typeface="Arial"/>
              </a:rPr>
              <a:t>LLM 增强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0727B"/>
                </a:solidFill>
                <a:latin typeface="Arial"/>
              </a:rPr>
              <a:t>规则 fallback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0727B"/>
                </a:solidFill>
                <a:latin typeface="Arial"/>
              </a:rPr>
              <a:t>结构化维度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13448" y="3657600"/>
            <a:ext cx="310896" cy="0"/>
          </a:xfrm>
          <a:prstGeom prst="line">
            <a:avLst/>
          </a:prstGeom>
          <a:ln w="27940">
            <a:solidFill>
              <a:srgbClr val="2F8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52944" y="2560320"/>
            <a:ext cx="27432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8975" y="2852928"/>
            <a:ext cx="7315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4200" b="0">
                <a:solidFill>
                  <a:srgbClr val="2F8F8C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5" y="373075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900" b="0">
                <a:solidFill>
                  <a:srgbClr val="17303A"/>
                </a:solidFill>
                <a:latin typeface="Arial"/>
              </a:rPr>
              <a:t>面试端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8975" y="4187952"/>
            <a:ext cx="219456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0727B"/>
                </a:solidFill>
                <a:latin typeface="Arial"/>
              </a:rPr>
              <a:t>视频会议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0727B"/>
                </a:solidFill>
                <a:latin typeface="Arial"/>
              </a:rPr>
              <a:t>数字人提问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0727B"/>
                </a:solidFill>
                <a:latin typeface="Arial"/>
              </a:rPr>
              <a:t>文本/语音回答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69296" y="3657600"/>
            <a:ext cx="310896" cy="0"/>
          </a:xfrm>
          <a:prstGeom prst="line">
            <a:avLst/>
          </a:prstGeom>
          <a:ln w="27940">
            <a:solidFill>
              <a:srgbClr val="2F8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908792" y="2560320"/>
            <a:ext cx="27432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64824" y="2852928"/>
            <a:ext cx="7315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4200" b="0">
                <a:solidFill>
                  <a:srgbClr val="2F8F8C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4824" y="3730752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900" b="0">
                <a:solidFill>
                  <a:srgbClr val="17303A"/>
                </a:solidFill>
                <a:latin typeface="Arial"/>
              </a:rPr>
              <a:t>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4824" y="4187952"/>
            <a:ext cx="219456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0727B"/>
                </a:solidFill>
                <a:latin typeface="Arial"/>
              </a:rPr>
              <a:t>问答摘要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0727B"/>
                </a:solidFill>
                <a:latin typeface="Arial"/>
              </a:rPr>
              <a:t>事件时间线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0727B"/>
                </a:solidFill>
                <a:latin typeface="Arial"/>
              </a:rPr>
              <a:t>待人工确认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961888"/>
            <a:ext cx="12344400" cy="914400"/>
          </a:xfrm>
          <a:prstGeom prst="roundRect">
            <a:avLst/>
          </a:prstGeom>
          <a:solidFill>
            <a:srgbClr val="EEF5F3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99616" y="6291072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0">
                <a:solidFill>
                  <a:srgbClr val="C9972B"/>
                </a:solidFill>
                <a:latin typeface="Arial"/>
              </a:rPr>
              <a:t>设计原则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27248" y="6327648"/>
            <a:ext cx="6217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所有分析回到原始问题、候选人回答和事件记录。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46304"/>
          </a:xfrm>
          <a:prstGeom prst="rect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286000" cy="91440"/>
          </a:xfrm>
          <a:prstGeom prst="rect">
            <a:avLst/>
          </a:prstGeom>
          <a:solidFill>
            <a:srgbClr val="E5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2F8F8C"/>
                </a:solidFill>
                <a:latin typeface="Arial"/>
              </a:rPr>
              <a:t>04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6400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800" b="0">
                <a:solidFill>
                  <a:srgbClr val="17303A"/>
                </a:solidFill>
                <a:latin typeface="Arial"/>
              </a:rPr>
              <a:t>项目架构图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8595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核心数据流：招聘端配置，候选人面试，后端生成可复核报告。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481560" y="566928"/>
            <a:ext cx="1298448" cy="201168"/>
          </a:xfrm>
          <a:prstGeom prst="roundRect">
            <a:avLst/>
          </a:prstGeom>
          <a:solidFill>
            <a:srgbClr val="DDECEA"/>
          </a:solidFill>
          <a:ln w="15240">
            <a:solidFill>
              <a:srgbClr val="DD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27432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377440"/>
            <a:ext cx="2743200" cy="73152"/>
          </a:xfrm>
          <a:prstGeom prst="rect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606040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17303A"/>
                </a:solidFill>
                <a:latin typeface="Arial"/>
              </a:rPr>
              <a:t>招聘端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999232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简历上传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职位追问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报告权限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956048"/>
            <a:ext cx="27432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956048"/>
            <a:ext cx="2743200" cy="73152"/>
          </a:xfrm>
          <a:prstGeom prst="rect">
            <a:avLst/>
          </a:prstGeom>
          <a:solidFill>
            <a:srgbClr val="E5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518464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17303A"/>
                </a:solidFill>
                <a:latin typeface="Arial"/>
              </a:rPr>
              <a:t>面试端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5577840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视频会议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数字人提问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回答提交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670048"/>
            <a:ext cx="27432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670048"/>
            <a:ext cx="2743200" cy="73152"/>
          </a:xfrm>
          <a:prstGeom prst="rect">
            <a:avLst/>
          </a:prstGeom>
          <a:solidFill>
            <a:srgbClr val="C99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05856" y="289864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17303A"/>
                </a:solidFill>
                <a:latin typeface="Arial"/>
              </a:rPr>
              <a:t>Python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5856" y="3291840"/>
            <a:ext cx="22860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Session Store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Prep Session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Report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0848" y="2670048"/>
            <a:ext cx="27432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70848" y="2670048"/>
            <a:ext cx="2743200" cy="73152"/>
          </a:xfrm>
          <a:prstGeom prst="rect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89864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17303A"/>
                </a:solidFill>
                <a:latin typeface="Arial"/>
              </a:rPr>
              <a:t>Core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91840"/>
            <a:ext cx="22860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Question Engine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Answer Analysis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Report Generator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5413248"/>
            <a:ext cx="6327648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5413248"/>
            <a:ext cx="6327648" cy="73152"/>
          </a:xfrm>
          <a:prstGeom prst="rect">
            <a:avLst/>
          </a:prstGeom>
          <a:solidFill>
            <a:srgbClr val="5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05856" y="5641848"/>
            <a:ext cx="596188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17303A"/>
                </a:solidFill>
                <a:latin typeface="Arial"/>
              </a:rPr>
              <a:t>可替换组件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05856" y="6035040"/>
            <a:ext cx="5870448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OpenAI-compatible LLM · MinerU · LiveKit · Camera Signals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234672" y="3200400"/>
            <a:ext cx="175564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234672" y="3200400"/>
            <a:ext cx="1755648" cy="73152"/>
          </a:xfrm>
          <a:prstGeom prst="rect">
            <a:avLst/>
          </a:prstGeom>
          <a:solidFill>
            <a:srgbClr val="C99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454128" y="3429000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17303A"/>
                </a:solidFill>
                <a:latin typeface="Arial"/>
              </a:rPr>
              <a:t>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54128" y="3822191"/>
            <a:ext cx="1298448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智能纪要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问答摘要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0727B"/>
                </a:solidFill>
                <a:latin typeface="Arial"/>
              </a:rPr>
              <a:t>待确认项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429000" y="2807208"/>
            <a:ext cx="2057400" cy="393192"/>
          </a:xfrm>
          <a:prstGeom prst="line">
            <a:avLst/>
          </a:prstGeom>
          <a:ln w="27940">
            <a:solidFill>
              <a:srgbClr val="2F8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429000" y="3657600"/>
            <a:ext cx="2057400" cy="1792224"/>
          </a:xfrm>
          <a:prstGeom prst="line">
            <a:avLst/>
          </a:prstGeom>
          <a:ln w="27940">
            <a:solidFill>
              <a:srgbClr val="E56B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29600" y="3355848"/>
            <a:ext cx="841248" cy="0"/>
          </a:xfrm>
          <a:prstGeom prst="line">
            <a:avLst/>
          </a:prstGeom>
          <a:ln w="27940">
            <a:solidFill>
              <a:srgbClr val="C997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814048" y="3355848"/>
            <a:ext cx="420624" cy="649224"/>
          </a:xfrm>
          <a:prstGeom prst="line">
            <a:avLst/>
          </a:prstGeom>
          <a:ln w="27940">
            <a:solidFill>
              <a:srgbClr val="C997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858000" y="4041648"/>
            <a:ext cx="0" cy="1371600"/>
          </a:xfrm>
          <a:prstGeom prst="line">
            <a:avLst/>
          </a:prstGeom>
          <a:ln w="27940">
            <a:solidFill>
              <a:srgbClr val="5F9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195560" y="4041648"/>
            <a:ext cx="0" cy="1371600"/>
          </a:xfrm>
          <a:prstGeom prst="line">
            <a:avLst/>
          </a:prstGeom>
          <a:ln w="27940">
            <a:solidFill>
              <a:srgbClr val="5F9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46304"/>
          </a:xfrm>
          <a:prstGeom prst="rect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286000" cy="91440"/>
          </a:xfrm>
          <a:prstGeom prst="rect">
            <a:avLst/>
          </a:prstGeom>
          <a:solidFill>
            <a:srgbClr val="E5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1792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2F8F8C"/>
                </a:solidFill>
                <a:latin typeface="Arial"/>
              </a:rPr>
              <a:t>05 /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6400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800" b="0">
                <a:solidFill>
                  <a:srgbClr val="17303A"/>
                </a:solidFill>
                <a:latin typeface="Arial"/>
              </a:rPr>
              <a:t>项目价值与边界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8595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AI 负责结构化、记录和辅助分析，最终评价仍由人完成。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481560" y="566928"/>
            <a:ext cx="1298448" cy="201168"/>
          </a:xfrm>
          <a:prstGeom prst="roundRect">
            <a:avLst/>
          </a:prstGeom>
          <a:solidFill>
            <a:srgbClr val="DDECEA"/>
          </a:solidFill>
          <a:ln w="15240">
            <a:solidFill>
              <a:srgbClr val="DD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395728"/>
            <a:ext cx="5788152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2779776"/>
            <a:ext cx="505663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0">
                <a:solidFill>
                  <a:srgbClr val="2F8F8C"/>
                </a:solidFill>
                <a:latin typeface="Arial"/>
              </a:rPr>
              <a:t>核心价值</a:t>
            </a:r>
          </a:p>
        </p:txBody>
      </p:sp>
      <p:sp>
        <p:nvSpPr>
          <p:cNvPr id="10" name="Oval 9"/>
          <p:cNvSpPr/>
          <p:nvPr/>
        </p:nvSpPr>
        <p:spPr>
          <a:xfrm>
            <a:off x="1252728" y="3493008"/>
            <a:ext cx="109728" cy="109728"/>
          </a:xfrm>
          <a:prstGeom prst="ellipse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401568"/>
            <a:ext cx="482803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围绕岗位和简历生成结构化问题</a:t>
            </a:r>
          </a:p>
        </p:txBody>
      </p:sp>
      <p:sp>
        <p:nvSpPr>
          <p:cNvPr id="12" name="Oval 11"/>
          <p:cNvSpPr/>
          <p:nvPr/>
        </p:nvSpPr>
        <p:spPr>
          <a:xfrm>
            <a:off x="1252728" y="4151376"/>
            <a:ext cx="109728" cy="109728"/>
          </a:xfrm>
          <a:prstGeom prst="ellipse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059936"/>
            <a:ext cx="482803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保留问题、回答、用时和事件</a:t>
            </a:r>
          </a:p>
        </p:txBody>
      </p:sp>
      <p:sp>
        <p:nvSpPr>
          <p:cNvPr id="14" name="Oval 13"/>
          <p:cNvSpPr/>
          <p:nvPr/>
        </p:nvSpPr>
        <p:spPr>
          <a:xfrm>
            <a:off x="1252728" y="4809744"/>
            <a:ext cx="109728" cy="109728"/>
          </a:xfrm>
          <a:prstGeom prst="ellipse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4718304"/>
            <a:ext cx="482803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输出面试概览、问答摘要和待确认项</a:t>
            </a:r>
          </a:p>
        </p:txBody>
      </p:sp>
      <p:sp>
        <p:nvSpPr>
          <p:cNvPr id="16" name="Oval 15"/>
          <p:cNvSpPr/>
          <p:nvPr/>
        </p:nvSpPr>
        <p:spPr>
          <a:xfrm>
            <a:off x="1252728" y="5468112"/>
            <a:ext cx="109728" cy="109728"/>
          </a:xfrm>
          <a:prstGeom prst="ellipse">
            <a:avLst/>
          </a:prstGeom>
          <a:solidFill>
            <a:srgbClr val="2F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5376672"/>
            <a:ext cx="482803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报告权限可由招聘端控制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7848" y="2395728"/>
            <a:ext cx="5788152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779776"/>
            <a:ext cx="5056632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0">
                <a:solidFill>
                  <a:srgbClr val="C9972B"/>
                </a:solidFill>
                <a:latin typeface="Arial"/>
              </a:rPr>
              <a:t>安全边界</a:t>
            </a:r>
          </a:p>
        </p:txBody>
      </p:sp>
      <p:sp>
        <p:nvSpPr>
          <p:cNvPr id="20" name="Oval 19"/>
          <p:cNvSpPr/>
          <p:nvPr/>
        </p:nvSpPr>
        <p:spPr>
          <a:xfrm>
            <a:off x="8339327" y="3493008"/>
            <a:ext cx="109728" cy="109728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3401568"/>
            <a:ext cx="482803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不输出录用或不录用结论</a:t>
            </a:r>
          </a:p>
        </p:txBody>
      </p:sp>
      <p:sp>
        <p:nvSpPr>
          <p:cNvPr id="22" name="Oval 21"/>
          <p:cNvSpPr/>
          <p:nvPr/>
        </p:nvSpPr>
        <p:spPr>
          <a:xfrm>
            <a:off x="8339327" y="4151376"/>
            <a:ext cx="109728" cy="109728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4059936"/>
            <a:ext cx="482803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不推断人格、情绪或敏感属性</a:t>
            </a:r>
          </a:p>
        </p:txBody>
      </p:sp>
      <p:sp>
        <p:nvSpPr>
          <p:cNvPr id="24" name="Oval 23"/>
          <p:cNvSpPr/>
          <p:nvPr/>
        </p:nvSpPr>
        <p:spPr>
          <a:xfrm>
            <a:off x="8339327" y="4809744"/>
            <a:ext cx="109728" cy="109728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4718304"/>
            <a:ext cx="482803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不把黑盒分数作为能力依据</a:t>
            </a:r>
          </a:p>
        </p:txBody>
      </p:sp>
      <p:sp>
        <p:nvSpPr>
          <p:cNvPr id="26" name="Oval 25"/>
          <p:cNvSpPr/>
          <p:nvPr/>
        </p:nvSpPr>
        <p:spPr>
          <a:xfrm>
            <a:off x="8339327" y="5468112"/>
            <a:ext cx="109728" cy="109728"/>
          </a:xfrm>
          <a:prstGeom prst="ellipse">
            <a:avLst/>
          </a:prstGeom>
          <a:solidFill>
            <a:srgbClr val="C99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5376672"/>
            <a:ext cx="4828032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60727B"/>
                </a:solidFill>
                <a:latin typeface="Arial"/>
              </a:rPr>
              <a:t>保留人工复核和最终判断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